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>
        <p:scale>
          <a:sx n="78" d="100"/>
          <a:sy n="78" d="100"/>
        </p:scale>
        <p:origin x="216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2C29A-6764-4FF1-909C-47D20D55488E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FB025-3B7D-40B0-9787-080537F48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7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SQLSummativeLab.html</a:t>
            </a:r>
          </a:p>
          <a:p>
            <a:r>
              <a:t>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SQLSummativeLab.html: year_summary outputs and initial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SQLSummativeLab.html: genre_performance table and business question.</a:t>
            </a:r>
          </a:p>
          <a:p>
            <a:r>
              <a:t>- Chart recreated from the executed notebook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SQLSummativeLab.html: Potential Data-Cleaning Tasks and null-handling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A3A4-B356-1424-2767-918FC2676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9D492-40C0-9C70-0884-0A6253FD0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788FE-5238-83D3-6143-CAC5767B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CB69C-065B-C349-DC3D-0CF12034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D253-62BE-64AD-2BCF-AEE67BFE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9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CB44-641A-1F0B-C2F8-CBA825D8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93B40-6D54-1415-7B6D-0B2D3CB80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21149-663F-EF8E-C912-2EDBCD13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DEEDE-68CF-727A-04B5-A13B8F81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535E-B528-FE63-7A15-6CF7871C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5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11BF-A41B-790C-07BE-5C15B833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7743A-1645-4160-D250-6B255D67D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F862-5DFE-D954-A06F-183EE738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5CE3D-A9C2-3E21-3A17-B8C5F9F6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34E2E-F5BA-D0B0-B519-CFF6D363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79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0257-165D-85FC-6316-9FD5DAFA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D1A5-8457-7A9C-3FFD-C30D390EB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ED6CC-B600-69F6-8A81-EE08CD113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3EE15-217E-F6AE-D8A6-37E3E22B5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B98DF-58BA-1886-8916-19BE73EB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FEB4-4D54-A1BF-05C5-80E56B62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1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3AFB-6A9A-338C-5760-E44CB938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49B7C-86B9-18FD-1B07-D7E326E20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B48F2-8102-B1E7-E4A6-C6AF78801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01F2A1-6AA6-04A4-7854-A94B3B134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23CAA-ED1A-323C-DFB4-134D913A5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FAD969-AF78-0ABE-A014-7C4B9825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3EA9DE-7362-8D2A-20A9-D72996CD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30804-97F1-3E82-999C-E7541E58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5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67D5-2C5F-EB3E-4BB3-00C6A349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E6E7C-646D-EC49-5C84-8D0A7A85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62FD0-AA7A-F666-2D49-663ED0BF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EA029-DE9C-2250-2D21-93F95F70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8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34EF1-C040-E260-1F75-A23A1F45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58E2C-388C-5069-AAAB-9A7FCAED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7E49E-9ED5-8292-A915-E859CE10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606F-A4B1-B4BF-0237-AABA0BFA2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9B56-F2E8-52FA-4F80-A1DC35156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E5B5D-7CE4-EC4D-A0FC-66DA32A02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F2BC1-3322-A83B-5774-3C00F2C7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88299-FB26-C232-D1A0-5B9EA3E5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49F51-D9A8-F579-F09F-5918DC9F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3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3538-2C20-CEB7-110A-1E892AF5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6BBCD-7579-6F4D-6BF1-661F1BC0B4F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21DF0-19C4-C9E6-0E79-A122F68D7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E3DD9-11CD-3181-5EB8-F6C4400E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12789-0BB2-5009-8124-0C7291DE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F1C8F-5438-1E60-B157-8C6EE6B5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90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F0C6-3081-3E1E-665E-91AAB9B3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0EE65-824D-27A8-CFCF-F629FC675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7E402-6123-F5A7-49D1-8505726C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B7D1F-ED25-C1AA-C00C-FB1000A80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536C-2BDB-9AA4-FAF9-DC580438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72C6A-3E82-B545-D141-4B85D6C46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84937-B501-AA13-C426-AD1A5AD46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F717-BB3E-6AAC-5667-FDD7129B5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EF70F-2934-F75D-E69D-F5C38848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1524-AA4F-C3D4-DE3C-01AF868F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7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chemeClr val="accent1">
                <a:lumMod val="6000"/>
                <a:lumOff val="9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24294-41FD-8FF1-7901-2D724092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84252-ECDA-885F-2FF7-23974D40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70538-5D17-4D5E-8D61-6A3E53ACE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7D49F-7A0F-4C6F-AEE4-01A4E9623277}" type="datetimeFigureOut">
              <a:rPr lang="en-US" smtClean="0"/>
              <a:t>27-Oct-26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BCE5B-DA5A-67E5-93AD-87F5C967F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04DC7-1A1C-6F31-CC25-40813779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6604E-4D9F-4AA5-A2A3-61727D05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7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7742" y="1083564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3558"/>
                </a:solidFill>
                <a:latin typeface="Aptos"/>
              </a:defRPr>
            </a:pPr>
            <a:r>
              <a:rPr dirty="0"/>
              <a:t>SQL Summative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2586" y="18790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0A4A8"/>
                </a:solidFill>
                <a:latin typeface="Aptos"/>
              </a:defRPr>
            </a:pPr>
            <a:r>
              <a:rPr dirty="0"/>
              <a:t>IMDB exploratory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2A38"/>
                </a:solidFill>
                <a:latin typeface="Aptos"/>
              </a:defRPr>
            </a:pPr>
            <a:r>
              <a:rPr dirty="0"/>
              <a:t>Initial exploration • Business question • 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06E7C"/>
                </a:solidFill>
                <a:latin typeface="Aptos"/>
              </a:defRPr>
            </a:pPr>
            <a:r>
              <a:rPr dirty="0"/>
              <a:t>Movies analyzed within the assignment window: 2010–2019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90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3558"/>
                </a:solidFill>
                <a:latin typeface="Aptos"/>
              </a:defRPr>
            </a:pPr>
            <a:r>
              <a:t>Edward Mwangi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B3558"/>
                </a:solidFill>
                <a:latin typeface="Aptos"/>
              </a:defRPr>
            </a:pPr>
            <a:r>
              <a:t>1. Initial data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E7C"/>
                </a:solidFill>
                <a:latin typeface="Aptos"/>
              </a:defRPr>
            </a:pPr>
            <a:r>
              <a:t>The executed notebook shows changing volumes, ratings and engagement across 2010–2019.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556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558"/>
                </a:solidFill>
                <a:latin typeface="Aptos"/>
              </a:defRPr>
            </a:pPr>
            <a:r>
              <a:t>6,792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1284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rated movies in 2010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727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7556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558"/>
                </a:solidFill>
                <a:latin typeface="Aptos"/>
              </a:defRPr>
            </a:pPr>
            <a:r>
              <a:t>8,721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1284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rated movies in 2016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727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556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558"/>
                </a:solidFill>
                <a:latin typeface="Aptos"/>
              </a:defRPr>
            </a:pPr>
            <a:r>
              <a:t>2,180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21284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rated movies in 2019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572768"/>
            <a:ext cx="24871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1" y="17556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558"/>
                </a:solidFill>
                <a:latin typeface="Aptos"/>
              </a:defRPr>
            </a:pPr>
            <a:r>
              <a:t>6.26 → 6.70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1" y="2212848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mean rating, 2010 →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10789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Rated-movie counts rose through 2016, then were substantially lower in 2019.</a:t>
            </a:r>
          </a:p>
          <a:p>
            <a:pPr>
              <a:spcAft>
                <a:spcPts val="12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Mean rating rose from 6.26 in 2010 to 6.70 in 2019.</a:t>
            </a:r>
          </a:p>
          <a:p>
            <a:pPr>
              <a:spcAft>
                <a:spcPts val="12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Total votes peaked at 35,638,577 in 2013; the 2019 total was 3,070,541.</a:t>
            </a:r>
          </a:p>
          <a:p>
            <a:pPr>
              <a:spcAft>
                <a:spcPts val="1200"/>
              </a:spcAft>
              <a:defRPr sz="1800">
                <a:solidFill>
                  <a:srgbClr val="1E2A38"/>
                </a:solidFill>
                <a:latin typeface="Aptos"/>
              </a:defRPr>
            </a:pPr>
            <a:r>
              <a:t>• These patterns motivate analysis that considers both audience satisfaction and engagement.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0138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C"/>
                </a:solidFill>
                <a:latin typeface="Aptos"/>
              </a:defRPr>
            </a:pPr>
            <a:r>
              <a:t>Source: SQLSummativeLab.html (executed notebook)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B3558"/>
                </a:solidFill>
                <a:latin typeface="Aptos"/>
              </a:defRPr>
            </a:pPr>
            <a:r>
              <a:t>2. Business question supported by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E7C"/>
                </a:solidFill>
                <a:latin typeface="Aptos"/>
              </a:defRPr>
            </a:pPr>
            <a:r>
              <a:t>Genre comparison requires both strong ratings and meaningful audience engagement.</a:t>
            </a:r>
          </a:p>
        </p:txBody>
      </p:sp>
      <p:pic>
        <p:nvPicPr>
          <p:cNvPr id="5" name="Picture 4" descr="genr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17320"/>
            <a:ext cx="6446520" cy="40965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60920" y="1417320"/>
            <a:ext cx="4160520" cy="1417320"/>
          </a:xfrm>
          <a:prstGeom prst="roundRect">
            <a:avLst/>
          </a:prstGeom>
          <a:solidFill>
            <a:srgbClr val="0B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71231" y="16276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A73A"/>
                </a:solidFill>
                <a:latin typeface="Aptos"/>
              </a:defRPr>
            </a:pPr>
            <a: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1947672"/>
            <a:ext cx="36393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Which genres combine strong audience ratings with substantial engagement, making them stronger candidates for studio development investment?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090672"/>
            <a:ext cx="4251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A38"/>
                </a:solidFill>
                <a:latin typeface="Aptos"/>
              </a:defRPr>
            </a:pPr>
            <a:r>
              <a:rPr dirty="0"/>
              <a:t>• Documentary: 7.27 rating, 741 qualifying movies, 4,823 average votes.</a:t>
            </a:r>
          </a:p>
          <a:p>
            <a:pPr>
              <a:spcAft>
                <a:spcPts val="1200"/>
              </a:spcAft>
              <a:defRPr sz="1400">
                <a:solidFill>
                  <a:srgbClr val="1E2A38"/>
                </a:solidFill>
                <a:latin typeface="Aptos"/>
              </a:defRPr>
            </a:pPr>
            <a:r>
              <a:rPr dirty="0"/>
              <a:t>• Biography: 6.96 rating and 30,358 average votes.</a:t>
            </a:r>
          </a:p>
          <a:p>
            <a:pPr>
              <a:spcAft>
                <a:spcPts val="1200"/>
              </a:spcAft>
              <a:defRPr sz="1400">
                <a:solidFill>
                  <a:srgbClr val="1E2A38"/>
                </a:solidFill>
                <a:latin typeface="Aptos"/>
              </a:defRPr>
            </a:pPr>
            <a:r>
              <a:rPr dirty="0"/>
              <a:t>• Adventure: 83,667 average votes but 6.16 rating.</a:t>
            </a:r>
          </a:p>
          <a:p>
            <a:pPr>
              <a:spcAft>
                <a:spcPts val="1200"/>
              </a:spcAft>
              <a:defRPr sz="1400">
                <a:solidFill>
                  <a:srgbClr val="1E2A38"/>
                </a:solidFill>
                <a:latin typeface="Aptos"/>
              </a:defRPr>
            </a:pPr>
            <a:r>
              <a:rPr dirty="0"/>
              <a:t>• Drama: 116,066,741 total votes, the highest total shown in the genre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0138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C"/>
                </a:solidFill>
                <a:latin typeface="Aptos"/>
              </a:defRPr>
            </a:pPr>
            <a:r>
              <a:t>Source: SQLSummativeLab.html (executed notebook)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B3558"/>
                </a:solidFill>
                <a:latin typeface="Aptos"/>
              </a:defRPr>
            </a:pPr>
            <a:r>
              <a:t>3. Potential data cleaning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2412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06E7C"/>
                </a:solidFill>
                <a:latin typeface="Aptos"/>
              </a:defRPr>
            </a:pPr>
            <a:r>
              <a:t>The notebook identifies normalization, null handling, duplicate review and validity checks before deeper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Split comma-separated genres into one genre per row before genre aggregation.</a:t>
            </a:r>
          </a:p>
          <a:p>
            <a:pPr>
              <a:spcAft>
                <a:spcPts val="12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Trim whitespace and standardize text capitalization when labels are compared.</a:t>
            </a:r>
          </a:p>
          <a:p>
            <a:pPr>
              <a:spcAft>
                <a:spcPts val="12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Verify start_year is numeric and restrict analysis to 2010–2019.</a:t>
            </a:r>
          </a:p>
          <a:p>
            <a:pPr>
              <a:spcAft>
                <a:spcPts val="12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Review duplicate movie-person relationships in directors, writers, principals and known_for.</a:t>
            </a:r>
          </a:p>
          <a:p>
            <a:pPr>
              <a:spcAft>
                <a:spcPts val="12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Inspect implausible runtime values and apply a defensible analysis range.</a:t>
            </a:r>
          </a:p>
          <a:p>
            <a:pPr>
              <a:spcAft>
                <a:spcPts val="1200"/>
              </a:spcAft>
              <a:defRPr sz="1500">
                <a:solidFill>
                  <a:srgbClr val="1E2A38"/>
                </a:solidFill>
                <a:latin typeface="Aptos"/>
              </a:defRPr>
            </a:pPr>
            <a:r>
              <a:t>• Use a vote threshold when comparing ratings to reduce instability from lightly rated movies.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417320"/>
            <a:ext cx="4005072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6824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0A4A8"/>
                </a:solidFill>
                <a:latin typeface="Aptos"/>
              </a:defRPr>
            </a:pPr>
            <a:r>
              <a:t>NULL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579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558"/>
                </a:solidFill>
                <a:latin typeface="Aptos"/>
              </a:defRPr>
            </a:pPr>
            <a:r>
              <a:t>146,144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0576" y="2231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movie_basics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7249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558"/>
                </a:solidFill>
                <a:latin typeface="Aptos"/>
              </a:defRPr>
            </a:pPr>
            <a:r>
              <a:t>31,739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0576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missing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B3558"/>
                </a:solidFill>
                <a:latin typeface="Aptos"/>
              </a:defRPr>
            </a:pPr>
            <a:r>
              <a:t>5,408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0576" y="3364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missing genres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9502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B3558"/>
                </a:solidFill>
                <a:latin typeface="Aptos"/>
              </a:defRPr>
            </a:pPr>
            <a:r>
              <a:t>73,856 → 65,720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7083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06E7C"/>
                </a:solidFill>
                <a:latin typeface="Aptos"/>
              </a:defRPr>
            </a:pPr>
            <a:r>
              <a:t>date-range join before → after required-field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9194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A38"/>
                </a:solidFill>
                <a:latin typeface="Aptos"/>
              </a:defRPr>
            </a:pPr>
            <a:r>
              <a:t>Rule: exclude missing values only when required for the analysis. Do not impute missing movie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0138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06E7C"/>
                </a:solidFill>
                <a:latin typeface="Aptos"/>
              </a:defRPr>
            </a:pPr>
            <a:r>
              <a:t>Source: SQLSummativeLab.html (executed notebook)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459</Words>
  <Application>Microsoft Office PowerPoint</Application>
  <PresentationFormat>Widescreen</PresentationFormat>
  <Paragraphs>58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Mwangi [Internal Audit]</dc:creator>
  <cp:lastModifiedBy>Edward Mwangi [Internal Audit]</cp:lastModifiedBy>
  <cp:revision>2</cp:revision>
  <dcterms:created xsi:type="dcterms:W3CDTF">2026-10-27T14:28:40Z</dcterms:created>
  <dcterms:modified xsi:type="dcterms:W3CDTF">2026-10-27T14:39:47Z</dcterms:modified>
</cp:coreProperties>
</file>